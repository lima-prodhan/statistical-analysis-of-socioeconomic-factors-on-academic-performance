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70" r:id="rId16"/>
    <p:sldId id="272" r:id="rId17"/>
    <p:sldId id="269" r:id="rId18"/>
    <p:sldId id="273" r:id="rId19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Rubik" panose="020B0604020202020204" charset="-79"/>
      <p:regular r:id="rId25"/>
      <p:bold r:id="rId26"/>
      <p:italic r:id="rId27"/>
      <p:boldItalic r:id="rId28"/>
    </p:embeddedFont>
    <p:embeddedFont>
      <p:font typeface="Rubik SemiBold" panose="020B0604020202020204" charset="-79"/>
      <p:regular r:id="rId29"/>
      <p:bold r:id="rId30"/>
      <p:italic r:id="rId31"/>
      <p:boldItalic r:id="rId32"/>
    </p:embeddedFont>
    <p:embeddedFont>
      <p:font typeface="Segoe UI Historic" panose="020B0502040204020203" pitchFamily="34" charset="0"/>
      <p:regular r:id="rId33"/>
    </p:embeddedFont>
    <p:embeddedFont>
      <p:font typeface="Young Serif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98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83e6468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283e6468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283e6468c0_0_6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283e6468c0_0_6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83e6468c0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283e6468c0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283e6468c0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283e6468c0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283e6468c0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283e6468c0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83e6468c0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83e6468c0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283e6468c0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283e6468c0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283e6468c0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283e6468c0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83e6468c0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283e6468c0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283e6468c0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283e6468c0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283e6468c0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283e6468c0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83e6468c0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283e6468c0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283e6468c0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283e6468c0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83e6468c0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283e6468c0_0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secHead">
  <p:cSld name="SECTION_HEADER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  <a:defRPr sz="1400">
                <a:latin typeface="Young Serif"/>
                <a:ea typeface="Young Serif"/>
                <a:cs typeface="Young Serif"/>
                <a:sym typeface="Young Serif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AutoNum type="alphaLcPeriod"/>
              <a:defRPr sz="12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AutoNum type="romanLcPeriod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AutoNum type="arabicPeriod"/>
              <a:defRPr sz="12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AutoNum type="alphaLcPeriod"/>
              <a:defRPr sz="12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AutoNum type="romanLcPeriod"/>
              <a:defRPr sz="12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AutoNum type="arabicPeriod"/>
              <a:defRPr sz="12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AutoNum type="alphaLcPeriod"/>
              <a:defRPr sz="12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2" name="Google Shape;92;p1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p1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4" name="Google Shape;104;p1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 type="tx">
  <p:cSld name="TITLE_AND_BODY"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1"/>
          <p:cNvSpPr>
            <a:spLocks noGrp="1"/>
          </p:cNvSpPr>
          <p:nvPr>
            <p:ph type="pic" idx="2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1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2pPr>
            <a:lvl3pPr marL="1371600" lvl="2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3pPr>
            <a:lvl4pPr marL="1828800" lvl="3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4pPr>
            <a:lvl5pPr marL="2286000" lvl="4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5pPr>
            <a:lvl6pPr marL="2743200" lvl="5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6pPr>
            <a:lvl7pPr marL="3200400" lvl="6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7pPr>
            <a:lvl8pPr marL="3657600" lvl="7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8pPr>
            <a:lvl9pPr marL="4114800" lvl="8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2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2pPr>
            <a:lvl3pPr marL="1371600" lvl="2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3pPr>
            <a:lvl4pPr marL="1828800" lvl="3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4pPr>
            <a:lvl5pPr marL="2286000" lvl="4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5pPr>
            <a:lvl6pPr marL="2743200" lvl="5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6pPr>
            <a:lvl7pPr marL="3200400" lvl="6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7pPr>
            <a:lvl8pPr marL="3657600" lvl="7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8pPr>
            <a:lvl9pPr marL="4114800" lvl="8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subTitle" idx="3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and body">
  <p:cSld name="CUSTOM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23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1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2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one column and image">
  <p:cSld name="CUSTOM_1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2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53" name="Google Shape;153;p24"/>
          <p:cNvSpPr txBox="1">
            <a:spLocks noGrp="1"/>
          </p:cNvSpPr>
          <p:nvPr>
            <p:ph type="subTitle" idx="1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4"/>
          <p:cNvSpPr>
            <a:spLocks noGrp="1"/>
          </p:cNvSpPr>
          <p:nvPr>
            <p:ph type="pic" idx="2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4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6" name="Google Shape;156;p24"/>
          <p:cNvSpPr txBox="1">
            <a:spLocks noGrp="1"/>
          </p:cNvSpPr>
          <p:nvPr>
            <p:ph type="body" idx="3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hree columns and image 1">
  <p:cSld name="CUSTOM_2">
    <p:bg>
      <p:bgPr>
        <a:solidFill>
          <a:schemeClr val="lt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5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2" name="Google Shape;162;p25"/>
          <p:cNvSpPr txBox="1">
            <a:spLocks noGrp="1"/>
          </p:cNvSpPr>
          <p:nvPr>
            <p:ph type="subTitle" idx="1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5"/>
          <p:cNvSpPr>
            <a:spLocks noGrp="1"/>
          </p:cNvSpPr>
          <p:nvPr>
            <p:ph type="pic" idx="2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5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3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hree columns and image 2">
  <p:cSld name="CUSTOM_2_1"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6"/>
          <p:cNvSpPr>
            <a:spLocks noGrp="1"/>
          </p:cNvSpPr>
          <p:nvPr>
            <p:ph type="pic" idx="2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6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6" name="Google Shape;176;p26"/>
          <p:cNvSpPr txBox="1">
            <a:spLocks noGrp="1"/>
          </p:cNvSpPr>
          <p:nvPr>
            <p:ph type="subTitle" idx="1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3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hree columns and image 3">
  <p:cSld name="CUSTOM_2_1_1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7"/>
          <p:cNvSpPr>
            <a:spLocks noGrp="1"/>
          </p:cNvSpPr>
          <p:nvPr>
            <p:ph type="pic" idx="2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7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7" name="Google Shape;187;p27"/>
          <p:cNvSpPr txBox="1">
            <a:spLocks noGrp="1"/>
          </p:cNvSpPr>
          <p:nvPr>
            <p:ph type="subTitle" idx="1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27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9" name="Google Shape;189;p27"/>
          <p:cNvSpPr txBox="1">
            <a:spLocks noGrp="1"/>
          </p:cNvSpPr>
          <p:nvPr>
            <p:ph type="body" idx="3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27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hree columns and image 4">
  <p:cSld name="CUSTOM_2_1_1_1"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28"/>
          <p:cNvSpPr>
            <a:spLocks noGrp="1"/>
          </p:cNvSpPr>
          <p:nvPr>
            <p:ph type="pic" idx="2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8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8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subTitle" idx="1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9" name="Google Shape;199;p28"/>
          <p:cNvSpPr txBox="1">
            <a:spLocks noGrp="1"/>
          </p:cNvSpPr>
          <p:nvPr>
            <p:ph type="body" idx="3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2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1" name="Google Shape;201;p28"/>
          <p:cNvSpPr txBox="1">
            <a:spLocks noGrp="1"/>
          </p:cNvSpPr>
          <p:nvPr>
            <p:ph type="subTitle" idx="4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2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5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28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5" name="Google Shape;205;p28"/>
          <p:cNvSpPr txBox="1">
            <a:spLocks noGrp="1"/>
          </p:cNvSpPr>
          <p:nvPr>
            <p:ph type="subTitle" idx="6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28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7" name="Google Shape;207;p28"/>
          <p:cNvSpPr txBox="1">
            <a:spLocks noGrp="1"/>
          </p:cNvSpPr>
          <p:nvPr>
            <p:ph type="body" idx="7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CUSTOM_3">
    <p:bg>
      <p:bgPr>
        <a:solidFill>
          <a:schemeClr val="dk2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0" name="Google Shape;210;p29"/>
          <p:cNvSpPr txBox="1">
            <a:spLocks noGrp="1"/>
          </p:cNvSpPr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4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>
            <a:spLocks noGrp="1"/>
          </p:cNvSpPr>
          <p:nvPr>
            <p:ph type="title"/>
          </p:nvPr>
        </p:nvSpPr>
        <p:spPr>
          <a:xfrm>
            <a:off x="623455" y="1504604"/>
            <a:ext cx="7963591" cy="22888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Impact of Socioeconomic Factors on Student Academic Performance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xfrm>
            <a:off x="303125" y="3126995"/>
            <a:ext cx="3940500" cy="12900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70" dirty="0">
                <a:solidFill>
                  <a:schemeClr val="accent3">
                    <a:lumMod val="75000"/>
                  </a:schemeClr>
                </a:solidFill>
              </a:rPr>
              <a:t>Submitted To</a:t>
            </a:r>
            <a:endParaRPr sz="2170" dirty="0">
              <a:solidFill>
                <a:schemeClr val="accent3">
                  <a:lumMod val="7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900" dirty="0">
              <a:solidFill>
                <a:schemeClr val="accent3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 b="1" dirty="0">
                <a:solidFill>
                  <a:schemeClr val="accent3">
                    <a:lumMod val="75000"/>
                  </a:schemeClr>
                </a:solidFill>
              </a:rPr>
              <a:t>Md. Al Imran</a:t>
            </a:r>
            <a:endParaRPr sz="142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20" b="1" dirty="0">
                <a:solidFill>
                  <a:schemeClr val="accent3">
                    <a:lumMod val="75000"/>
                  </a:schemeClr>
                </a:solidFill>
              </a:rPr>
              <a:t>Senior Lecturer,</a:t>
            </a:r>
            <a:endParaRPr sz="1315" b="1" dirty="0">
              <a:solidFill>
                <a:schemeClr val="accent3">
                  <a:lumMod val="75000"/>
                </a:schemeClr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20" b="1" dirty="0">
                <a:solidFill>
                  <a:schemeClr val="accent3">
                    <a:lumMod val="75000"/>
                  </a:schemeClr>
                </a:solidFill>
              </a:rPr>
              <a:t>Department of Computer Science &amp; Engineering, East West University</a:t>
            </a:r>
            <a:endParaRPr sz="132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23" name="Google Shape;223;p32"/>
          <p:cNvSpPr txBox="1">
            <a:spLocks noGrp="1"/>
          </p:cNvSpPr>
          <p:nvPr>
            <p:ph type="subTitle" idx="1"/>
          </p:nvPr>
        </p:nvSpPr>
        <p:spPr>
          <a:xfrm>
            <a:off x="6150799" y="2122800"/>
            <a:ext cx="29409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accent3">
                    <a:lumMod val="75000"/>
                  </a:schemeClr>
                </a:solidFill>
                <a:latin typeface="Young Serif" panose="020B0604020202020204" charset="0"/>
              </a:rPr>
              <a:t>Submitted By</a:t>
            </a:r>
            <a:endParaRPr sz="2100" dirty="0">
              <a:solidFill>
                <a:schemeClr val="accent3">
                  <a:lumMod val="75000"/>
                </a:schemeClr>
              </a:solidFill>
              <a:latin typeface="Young Serif" panose="020B0604020202020204" charset="0"/>
            </a:endParaRPr>
          </a:p>
        </p:txBody>
      </p:sp>
      <p:sp>
        <p:nvSpPr>
          <p:cNvPr id="224" name="Google Shape;224;p32"/>
          <p:cNvSpPr txBox="1">
            <a:spLocks noGrp="1"/>
          </p:cNvSpPr>
          <p:nvPr>
            <p:ph type="subTitle" idx="2"/>
          </p:nvPr>
        </p:nvSpPr>
        <p:spPr>
          <a:xfrm>
            <a:off x="6150799" y="2566382"/>
            <a:ext cx="29409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>
                    <a:lumMod val="75000"/>
                  </a:schemeClr>
                </a:solidFill>
                <a:latin typeface="Young Serif" panose="020B0604020202020204" charset="0"/>
              </a:rPr>
              <a:t>Name: Saima Islam</a:t>
            </a:r>
            <a:endParaRPr sz="1400" dirty="0">
              <a:solidFill>
                <a:schemeClr val="accent3">
                  <a:lumMod val="75000"/>
                </a:schemeClr>
              </a:solidFill>
              <a:latin typeface="Young Serif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>
                    <a:lumMod val="75000"/>
                  </a:schemeClr>
                </a:solidFill>
                <a:latin typeface="Young Serif" panose="020B0604020202020204" charset="0"/>
              </a:rPr>
              <a:t>ID: 2022-1-60-150</a:t>
            </a:r>
            <a:endParaRPr sz="1400" dirty="0">
              <a:solidFill>
                <a:schemeClr val="accent3">
                  <a:lumMod val="75000"/>
                </a:schemeClr>
              </a:solidFill>
              <a:latin typeface="Young Serif" panose="020B0604020202020204" charset="0"/>
            </a:endParaRPr>
          </a:p>
        </p:txBody>
      </p:sp>
      <p:sp>
        <p:nvSpPr>
          <p:cNvPr id="225" name="Google Shape;225;p32"/>
          <p:cNvSpPr txBox="1">
            <a:spLocks noGrp="1"/>
          </p:cNvSpPr>
          <p:nvPr>
            <p:ph type="subTitle" idx="3"/>
          </p:nvPr>
        </p:nvSpPr>
        <p:spPr>
          <a:xfrm>
            <a:off x="6140037" y="4173722"/>
            <a:ext cx="3103715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accent3">
                    <a:lumMod val="75000"/>
                  </a:schemeClr>
                </a:solidFill>
                <a:latin typeface="Young Serif" panose="020B0604020202020204" charset="0"/>
              </a:rPr>
              <a:t>Name: Ferthousi Yesmin Pinky</a:t>
            </a:r>
            <a:endParaRPr sz="1400" dirty="0">
              <a:solidFill>
                <a:schemeClr val="accent3">
                  <a:lumMod val="75000"/>
                </a:schemeClr>
              </a:solidFill>
              <a:latin typeface="Young Serif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accent3">
                    <a:lumMod val="75000"/>
                  </a:schemeClr>
                </a:solidFill>
                <a:latin typeface="Young Serif" panose="020B0604020202020204" charset="0"/>
              </a:rPr>
              <a:t>ID: 2021-3-60-163</a:t>
            </a:r>
            <a:endParaRPr dirty="0">
              <a:solidFill>
                <a:schemeClr val="accent3">
                  <a:lumMod val="75000"/>
                </a:schemeClr>
              </a:solidFill>
              <a:latin typeface="Young Serif" panose="020B0604020202020204" charset="0"/>
            </a:endParaRPr>
          </a:p>
        </p:txBody>
      </p:sp>
      <p:sp>
        <p:nvSpPr>
          <p:cNvPr id="226" name="Google Shape;226;p32"/>
          <p:cNvSpPr txBox="1">
            <a:spLocks noGrp="1"/>
          </p:cNvSpPr>
          <p:nvPr>
            <p:ph type="subTitle" idx="4"/>
          </p:nvPr>
        </p:nvSpPr>
        <p:spPr>
          <a:xfrm>
            <a:off x="6150799" y="3084769"/>
            <a:ext cx="29409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accent3">
                    <a:lumMod val="75000"/>
                  </a:schemeClr>
                </a:solidFill>
                <a:latin typeface="Young Serif" panose="020B0604020202020204" charset="0"/>
              </a:rPr>
              <a:t>Name: Faria Zaman Titly</a:t>
            </a:r>
            <a:endParaRPr sz="1400" dirty="0">
              <a:solidFill>
                <a:schemeClr val="accent3">
                  <a:lumMod val="75000"/>
                </a:schemeClr>
              </a:solidFill>
              <a:latin typeface="Young Serif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accent3">
                    <a:lumMod val="75000"/>
                  </a:schemeClr>
                </a:solidFill>
                <a:latin typeface="Young Serif" panose="020B0604020202020204" charset="0"/>
              </a:rPr>
              <a:t>ID: 2022-1-60-068</a:t>
            </a:r>
            <a:endParaRPr dirty="0">
              <a:solidFill>
                <a:schemeClr val="accent3">
                  <a:lumMod val="75000"/>
                </a:schemeClr>
              </a:solidFill>
              <a:latin typeface="Young Serif" panose="020B0604020202020204" charset="0"/>
            </a:endParaRPr>
          </a:p>
        </p:txBody>
      </p:sp>
      <p:sp>
        <p:nvSpPr>
          <p:cNvPr id="227" name="Google Shape;227;p32"/>
          <p:cNvSpPr txBox="1">
            <a:spLocks noGrp="1"/>
          </p:cNvSpPr>
          <p:nvPr>
            <p:ph type="subTitle" idx="6"/>
          </p:nvPr>
        </p:nvSpPr>
        <p:spPr>
          <a:xfrm>
            <a:off x="6142486" y="3625117"/>
            <a:ext cx="29409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accent3">
                    <a:lumMod val="75000"/>
                  </a:schemeClr>
                </a:solidFill>
                <a:latin typeface="Young Serif" panose="020B0604020202020204" charset="0"/>
              </a:rPr>
              <a:t>Name: Lima Prodhan</a:t>
            </a:r>
            <a:endParaRPr sz="1400" dirty="0">
              <a:solidFill>
                <a:schemeClr val="accent3">
                  <a:lumMod val="75000"/>
                </a:schemeClr>
              </a:solidFill>
              <a:latin typeface="Young Serif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accent3">
                    <a:lumMod val="75000"/>
                  </a:schemeClr>
                </a:solidFill>
                <a:latin typeface="Young Serif" panose="020B0604020202020204" charset="0"/>
              </a:rPr>
              <a:t>ID: 2021-3-60-180</a:t>
            </a:r>
            <a:endParaRPr dirty="0">
              <a:solidFill>
                <a:schemeClr val="accent3">
                  <a:lumMod val="75000"/>
                </a:schemeClr>
              </a:solidFill>
              <a:latin typeface="Young Serif" panose="020B0604020202020204" charset="0"/>
            </a:endParaRP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676DEB1B-A2AD-0C65-D13D-ABFCD6520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6171" y="139692"/>
            <a:ext cx="5581068" cy="13840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44ABD1-387D-14C0-B91E-97F9BE708284}"/>
              </a:ext>
            </a:extLst>
          </p:cNvPr>
          <p:cNvSpPr txBox="1"/>
          <p:nvPr/>
        </p:nvSpPr>
        <p:spPr>
          <a:xfrm>
            <a:off x="2036619" y="1701848"/>
            <a:ext cx="4572000" cy="1384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  <a:effectLst/>
                <a:latin typeface="Young Serif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Course Title: Statistics for Data Science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  <a:effectLst/>
                <a:latin typeface="Young Serif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Code: CSE303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  <a:effectLst/>
                <a:latin typeface="Young Serif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Section: 08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endParaRPr lang="en-US" sz="1500" dirty="0">
              <a:solidFill>
                <a:schemeClr val="accent3">
                  <a:lumMod val="75000"/>
                </a:schemeClr>
              </a:solidFill>
              <a:effectLst/>
              <a:latin typeface="Young Serif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33" name="Google Shape;233;p33"/>
          <p:cNvSpPr txBox="1">
            <a:spLocks noGrp="1"/>
          </p:cNvSpPr>
          <p:nvPr>
            <p:ph type="body" idx="1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Exploratory Data Analysis (EDA)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Statistical Hypothesis Testing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Confidence Interval Analysis</a:t>
            </a:r>
            <a:endParaRPr/>
          </a:p>
        </p:txBody>
      </p:sp>
      <p:sp>
        <p:nvSpPr>
          <p:cNvPr id="234" name="Google Shape;234;p33"/>
          <p:cNvSpPr txBox="1">
            <a:spLocks noGrp="1"/>
          </p:cNvSpPr>
          <p:nvPr>
            <p:ph type="body" idx="2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Analysis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Robustness Checks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Insights &amp; Recommendations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240" name="Google Shape;240;p34"/>
          <p:cNvSpPr txBox="1"/>
          <p:nvPr/>
        </p:nvSpPr>
        <p:spPr>
          <a:xfrm>
            <a:off x="869675" y="1374925"/>
            <a:ext cx="7602600" cy="29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Young Serif"/>
              <a:buChar char="❖"/>
            </a:pPr>
            <a:r>
              <a:rPr lang="en" sz="2200">
                <a:latin typeface="Young Serif"/>
                <a:ea typeface="Young Serif"/>
                <a:cs typeface="Young Serif"/>
                <a:sym typeface="Young Serif"/>
              </a:rPr>
              <a:t>Explore the relationship between parental education, reading, writing, and math scores.</a:t>
            </a:r>
            <a:endParaRPr sz="220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Young Serif"/>
              <a:buChar char="❖"/>
            </a:pPr>
            <a:r>
              <a:rPr lang="en" sz="2200">
                <a:latin typeface="Young Serif"/>
                <a:ea typeface="Young Serif"/>
                <a:cs typeface="Young Serif"/>
                <a:sym typeface="Young Serif"/>
              </a:rPr>
              <a:t>Perform hypothesis testing, regression analysis, and bootstrapping for robust confidence intervals.</a:t>
            </a:r>
            <a:endParaRPr sz="220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Young Serif"/>
              <a:buChar char="❖"/>
            </a:pPr>
            <a:r>
              <a:rPr lang="en" sz="2200">
                <a:latin typeface="Young Serif"/>
                <a:ea typeface="Young Serif"/>
                <a:cs typeface="Young Serif"/>
                <a:sym typeface="Young Serif"/>
              </a:rPr>
              <a:t>Understand factors influencing math performance.</a:t>
            </a:r>
            <a:endParaRPr sz="220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endParaRPr sz="220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246" name="Google Shape;246;p35"/>
          <p:cNvSpPr txBox="1">
            <a:spLocks noGrp="1"/>
          </p:cNvSpPr>
          <p:nvPr>
            <p:ph type="subTitle" idx="1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 b="1">
                <a:solidFill>
                  <a:schemeClr val="lt2"/>
                </a:solidFill>
                <a:latin typeface="Rubik"/>
                <a:ea typeface="Rubik"/>
                <a:cs typeface="Rubik"/>
                <a:sym typeface="Rubik"/>
              </a:rPr>
              <a:t>   Handled missing values</a:t>
            </a:r>
            <a:endParaRPr sz="19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247" name="Google Shape;247;p35" descr="Child solving math problems on paper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4007" b="34007"/>
          <a:stretch/>
        </p:blipFill>
        <p:spPr>
          <a:xfrm>
            <a:off x="228600" y="3062975"/>
            <a:ext cx="8686802" cy="1851899"/>
          </a:xfrm>
          <a:prstGeom prst="rect">
            <a:avLst/>
          </a:prstGeom>
        </p:spPr>
      </p:pic>
      <p:sp>
        <p:nvSpPr>
          <p:cNvPr id="248" name="Google Shape;248;p35"/>
          <p:cNvSpPr txBox="1">
            <a:spLocks noGrp="1"/>
          </p:cNvSpPr>
          <p:nvPr>
            <p:ph type="body" idx="3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/>
              <a:t>No missing data found.</a:t>
            </a:r>
            <a:endParaRPr sz="1300" b="1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  <p:sp>
        <p:nvSpPr>
          <p:cNvPr id="249" name="Google Shape;249;p35"/>
          <p:cNvSpPr txBox="1"/>
          <p:nvPr/>
        </p:nvSpPr>
        <p:spPr>
          <a:xfrm>
            <a:off x="3221925" y="1350075"/>
            <a:ext cx="2691900" cy="14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Standardized numerical features (Math, Reading, Writing scores).</a:t>
            </a:r>
            <a:endParaRPr sz="14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50" name="Google Shape;250;p35"/>
          <p:cNvSpPr txBox="1"/>
          <p:nvPr/>
        </p:nvSpPr>
        <p:spPr>
          <a:xfrm>
            <a:off x="6187100" y="1350075"/>
            <a:ext cx="2691900" cy="14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Converted categorical variable (parental level of education) to dummy variables.</a:t>
            </a:r>
            <a:endParaRPr sz="14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-477" r="-1179" b="-1183"/>
          <a:stretch/>
        </p:blipFill>
        <p:spPr>
          <a:xfrm>
            <a:off x="4615950" y="1666725"/>
            <a:ext cx="4299350" cy="3247975"/>
          </a:xfrm>
          <a:prstGeom prst="rect">
            <a:avLst/>
          </a:prstGeom>
        </p:spPr>
      </p:pic>
      <p:sp>
        <p:nvSpPr>
          <p:cNvPr id="256" name="Google Shape;256;p36"/>
          <p:cNvSpPr txBox="1"/>
          <p:nvPr/>
        </p:nvSpPr>
        <p:spPr>
          <a:xfrm>
            <a:off x="2792375" y="879225"/>
            <a:ext cx="3117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257" name="Google Shape;257;p36"/>
          <p:cNvPicPr preferRelativeResize="0"/>
          <p:nvPr/>
        </p:nvPicPr>
        <p:blipFill rotWithShape="1">
          <a:blip r:embed="rId4">
            <a:alphaModFix/>
          </a:blip>
          <a:srcRect r="1351"/>
          <a:stretch/>
        </p:blipFill>
        <p:spPr>
          <a:xfrm>
            <a:off x="152400" y="1666725"/>
            <a:ext cx="4229401" cy="33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6"/>
          <p:cNvSpPr txBox="1"/>
          <p:nvPr/>
        </p:nvSpPr>
        <p:spPr>
          <a:xfrm>
            <a:off x="447750" y="805825"/>
            <a:ext cx="34110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Rubik"/>
              <a:buChar char="➢"/>
            </a:pPr>
            <a:r>
              <a:rPr lang="en" sz="1350" b="1">
                <a:solidFill>
                  <a:schemeClr val="lt2"/>
                </a:solidFill>
                <a:latin typeface="Rubik"/>
                <a:ea typeface="Rubik"/>
                <a:cs typeface="Rubik"/>
                <a:sym typeface="Rubik"/>
              </a:rPr>
              <a:t>Heatmap for correlations.</a:t>
            </a:r>
            <a:endParaRPr sz="1350" b="1">
              <a:solidFill>
                <a:schemeClr val="lt2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2"/>
                </a:solidFill>
                <a:latin typeface="Rubik"/>
                <a:ea typeface="Rubik"/>
                <a:cs typeface="Rubik"/>
                <a:sym typeface="Rubik"/>
              </a:rPr>
              <a:t>Strong correlation between reading, writing, and math scores.</a:t>
            </a:r>
            <a:endParaRPr sz="1350">
              <a:solidFill>
                <a:schemeClr val="l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5128825" y="925775"/>
            <a:ext cx="3020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06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50"/>
              <a:buFont typeface="Rubik"/>
              <a:buChar char="➢"/>
            </a:pPr>
            <a:r>
              <a:rPr lang="en" sz="1450">
                <a:solidFill>
                  <a:schemeClr val="lt2"/>
                </a:solidFill>
                <a:latin typeface="Rubik"/>
                <a:ea typeface="Rubik"/>
                <a:cs typeface="Rubik"/>
                <a:sym typeface="Rubik"/>
              </a:rPr>
              <a:t>Summary statistics for the dataset.</a:t>
            </a:r>
            <a:endParaRPr sz="1450">
              <a:solidFill>
                <a:schemeClr val="l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1978275" y="309350"/>
            <a:ext cx="54057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Exploratory Data Analysis</a:t>
            </a:r>
            <a:endParaRPr sz="23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2150" b="1">
              <a:solidFill>
                <a:schemeClr val="lt2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69" y="1156025"/>
            <a:ext cx="4518276" cy="38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1375" y="1156025"/>
            <a:ext cx="4320925" cy="380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7"/>
          <p:cNvSpPr txBox="1"/>
          <p:nvPr/>
        </p:nvSpPr>
        <p:spPr>
          <a:xfrm>
            <a:off x="529175" y="472175"/>
            <a:ext cx="36228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Boxplot for parental education and math scores.</a:t>
            </a:r>
            <a:endParaRPr sz="135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68" name="Google Shape;268;p37"/>
          <p:cNvSpPr txBox="1"/>
          <p:nvPr/>
        </p:nvSpPr>
        <p:spPr>
          <a:xfrm>
            <a:off x="5340525" y="358200"/>
            <a:ext cx="31830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Bar graph comparing mean math scores across parental education groups.</a:t>
            </a:r>
            <a:endParaRPr sz="135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None/>
            </a:pPr>
            <a:r>
              <a:rPr lang="en" dirty="0"/>
              <a:t>Statistical Hypothesis Testing</a:t>
            </a:r>
            <a:endParaRPr dirty="0"/>
          </a:p>
        </p:txBody>
      </p:sp>
      <p:sp>
        <p:nvSpPr>
          <p:cNvPr id="274" name="Google Shape;274;p38"/>
          <p:cNvSpPr txBox="1">
            <a:spLocks noGrp="1"/>
          </p:cNvSpPr>
          <p:nvPr>
            <p:ph type="body" idx="3"/>
          </p:nvPr>
        </p:nvSpPr>
        <p:spPr>
          <a:xfrm>
            <a:off x="456400" y="1875280"/>
            <a:ext cx="3995502" cy="27549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300" b="1" dirty="0">
                <a:latin typeface="Young Serif"/>
                <a:ea typeface="Young Serif"/>
                <a:cs typeface="Young Serif"/>
                <a:sym typeface="Young Serif"/>
              </a:rPr>
              <a:t>Hypothesis:</a:t>
            </a:r>
            <a:r>
              <a:rPr lang="en" sz="1300" dirty="0">
                <a:latin typeface="Young Serif"/>
                <a:ea typeface="Young Serif"/>
                <a:cs typeface="Young Serif"/>
                <a:sym typeface="Young Serif"/>
              </a:rPr>
              <a:t>  </a:t>
            </a:r>
            <a:r>
              <a:rPr lang="en" sz="1400" dirty="0">
                <a:solidFill>
                  <a:schemeClr val="accent4">
                    <a:lumMod val="20000"/>
                    <a:lumOff val="80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Does parental education 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significantly </a:t>
            </a:r>
            <a:r>
              <a:rPr lang="en" sz="1400" dirty="0">
                <a:solidFill>
                  <a:schemeClr val="accent4">
                    <a:lumMod val="20000"/>
                    <a:lumOff val="80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impact math scores?</a:t>
            </a:r>
            <a:endParaRPr sz="1400" dirty="0">
              <a:solidFill>
                <a:schemeClr val="accent4">
                  <a:lumMod val="20000"/>
                  <a:lumOff val="80000"/>
                </a:schemeClr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-US" sz="1300" b="1" dirty="0">
                <a:latin typeface="Young Serif"/>
                <a:ea typeface="Young Serif"/>
                <a:cs typeface="Young Serif"/>
                <a:sym typeface="Young Serif"/>
              </a:rPr>
              <a:t>Null Hypothesis (H₀): </a:t>
            </a:r>
            <a:r>
              <a:rPr lang="en-US" sz="1300" dirty="0">
                <a:latin typeface="Young Serif"/>
                <a:ea typeface="Young Serif"/>
                <a:cs typeface="Young Serif"/>
                <a:sym typeface="Young Serif"/>
              </a:rPr>
              <a:t>There is no difference in math scores based on parental education.</a:t>
            </a:r>
          </a:p>
          <a:p>
            <a:pPr marL="0" lvl="0" indent="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-US" sz="1300" b="1" dirty="0">
                <a:latin typeface="Young Serif"/>
                <a:ea typeface="Young Serif"/>
                <a:cs typeface="Young Serif"/>
                <a:sym typeface="Young Serif"/>
              </a:rPr>
              <a:t>Alternative Hypothesis (H₁): </a:t>
            </a:r>
            <a:r>
              <a:rPr lang="en-US" sz="1300" dirty="0">
                <a:latin typeface="Young Serif"/>
                <a:ea typeface="Young Serif"/>
                <a:cs typeface="Young Serif"/>
                <a:sym typeface="Young Serif"/>
              </a:rPr>
              <a:t>There is a difference in math scores based on parental education.</a:t>
            </a:r>
            <a:endParaRPr lang="en" sz="1300" b="1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400" b="1" dirty="0">
                <a:latin typeface="Young Serif"/>
                <a:ea typeface="Young Serif"/>
                <a:cs typeface="Young Serif"/>
                <a:sym typeface="Young Serif"/>
              </a:rPr>
              <a:t>T-test Results:</a:t>
            </a:r>
            <a:endParaRPr sz="1400" b="1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-311150" rtl="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Young Serif"/>
              <a:buChar char="●"/>
            </a:pPr>
            <a:r>
              <a:rPr lang="en" sz="1400" dirty="0">
                <a:latin typeface="Young Serif"/>
                <a:ea typeface="Young Serif"/>
                <a:cs typeface="Young Serif"/>
                <a:sym typeface="Young Serif"/>
              </a:rPr>
              <a:t>T-statistic = 1.17</a:t>
            </a:r>
            <a:endParaRPr sz="140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Young Serif"/>
              <a:buChar char="●"/>
            </a:pPr>
            <a:r>
              <a:rPr lang="en" sz="1400" dirty="0">
                <a:latin typeface="Young Serif"/>
                <a:ea typeface="Young Serif"/>
                <a:cs typeface="Young Serif"/>
                <a:sym typeface="Young Serif"/>
              </a:rPr>
              <a:t>P-value = 0.242 (</a:t>
            </a:r>
            <a:r>
              <a:rPr lang="en-US" sz="1400" dirty="0">
                <a:latin typeface="Young Serif"/>
                <a:ea typeface="Young Serif"/>
                <a:cs typeface="Young Serif"/>
                <a:sym typeface="Young Serif"/>
              </a:rPr>
              <a:t>24.2% probability)</a:t>
            </a:r>
            <a:endParaRPr lang="en" sz="140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endParaRPr sz="130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accent4"/>
              </a:buClr>
              <a:buSzPts val="1100"/>
              <a:buNone/>
            </a:pPr>
            <a:endParaRPr dirty="0"/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3"/>
          </p:nvPr>
        </p:nvSpPr>
        <p:spPr>
          <a:xfrm>
            <a:off x="4293958" y="1461996"/>
            <a:ext cx="4766913" cy="2754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Perform the t-test with </a:t>
            </a:r>
            <a:r>
              <a:rPr lang="en-US" sz="1300" b="1" dirty="0" err="1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Scipy</a:t>
            </a:r>
            <a:r>
              <a:rPr lang="en-US" sz="1300" b="1" dirty="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 (Pseudo Code):</a:t>
            </a:r>
          </a:p>
          <a:p>
            <a:pPr marL="457200" lvl="0" indent="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 dirty="0" err="1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t_stat</a:t>
            </a:r>
            <a:r>
              <a:rPr lang="en-US" sz="1100" b="1" dirty="0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, </a:t>
            </a:r>
            <a:r>
              <a:rPr lang="en-US" sz="1100" b="1" dirty="0" err="1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p_value</a:t>
            </a:r>
            <a:r>
              <a:rPr lang="en-US" sz="1100" b="1" dirty="0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 = </a:t>
            </a:r>
            <a:r>
              <a:rPr lang="en-US" sz="1100" b="1" dirty="0" err="1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stats.ttest_ind</a:t>
            </a:r>
            <a:r>
              <a:rPr lang="en-US" sz="1100" b="1" dirty="0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(group1, group2)</a:t>
            </a:r>
          </a:p>
          <a:p>
            <a:pPr marL="457200" lvl="0" indent="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print("T-statistic:", </a:t>
            </a:r>
            <a:r>
              <a:rPr lang="en-US" sz="1100" b="1" dirty="0" err="1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t_stat</a:t>
            </a:r>
            <a:r>
              <a:rPr lang="en-US" sz="1100" b="1" dirty="0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, "P-value:", </a:t>
            </a:r>
            <a:r>
              <a:rPr lang="en-US" sz="1100" b="1" dirty="0" err="1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p_value</a:t>
            </a:r>
            <a:r>
              <a:rPr lang="en-US" sz="1100" b="1" dirty="0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)</a:t>
            </a:r>
          </a:p>
          <a:p>
            <a:pPr marL="457200" lvl="0" indent="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                                      </a:t>
            </a:r>
            <a:r>
              <a:rPr lang="en" sz="1600" b="1" dirty="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Conclusion</a:t>
            </a:r>
            <a:r>
              <a:rPr lang="en" sz="1300" b="1" dirty="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 </a:t>
            </a:r>
          </a:p>
          <a:p>
            <a:pPr marL="45720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We may not reject the null hypothesis. </a:t>
            </a:r>
            <a:r>
              <a:rPr lang="en-US" sz="1300" b="1" dirty="0">
                <a:solidFill>
                  <a:schemeClr val="accent2">
                    <a:lumMod val="50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Parental Education does not have a statistically significant impact on math scores at 5% significance level</a:t>
            </a:r>
            <a:r>
              <a:rPr lang="en-US" sz="1300" b="1" dirty="0">
                <a:solidFill>
                  <a:schemeClr val="accent6">
                    <a:lumMod val="85000"/>
                    <a:lumOff val="15000"/>
                  </a:schemeClr>
                </a:solidFill>
                <a:latin typeface="Young Serif"/>
                <a:ea typeface="Young Serif"/>
                <a:cs typeface="Young Serif"/>
                <a:sym typeface="Young Serif"/>
              </a:rPr>
              <a:t>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8E809-4791-873C-E0AA-1C0B69E25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685" y="3710123"/>
            <a:ext cx="2108826" cy="1358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Confidence Interval Analysis</a:t>
            </a:r>
            <a:endParaRPr dirty="0"/>
          </a:p>
        </p:txBody>
      </p:sp>
      <p:sp>
        <p:nvSpPr>
          <p:cNvPr id="281" name="Google Shape;281;p39"/>
          <p:cNvSpPr txBox="1">
            <a:spLocks noGrp="1"/>
          </p:cNvSpPr>
          <p:nvPr>
            <p:ph type="body" idx="4294967295"/>
          </p:nvPr>
        </p:nvSpPr>
        <p:spPr>
          <a:xfrm>
            <a:off x="241069" y="1044522"/>
            <a:ext cx="8977745" cy="8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chemeClr val="tx1"/>
                </a:solidFill>
                <a:effectLst/>
                <a:latin typeface="Segoe UI Historic" panose="020B0502040204020203" pitchFamily="34" charset="0"/>
              </a:rPr>
              <a:t>The 95% confidence intervals graph for the mean math scores based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chemeClr val="tx1"/>
                </a:solidFill>
                <a:effectLst/>
                <a:latin typeface="Segoe UI Historic" panose="020B0502040204020203" pitchFamily="34" charset="0"/>
              </a:rPr>
              <a:t>on parental education levels are:</a:t>
            </a:r>
            <a:endParaRPr sz="1700" b="1" dirty="0">
              <a:latin typeface="Young Serif"/>
              <a:ea typeface="Young Serif"/>
              <a:cs typeface="Young Serif"/>
              <a:sym typeface="Young Serif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BBD118-7994-7670-8072-4247D6793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82" y="1788353"/>
            <a:ext cx="4904509" cy="31976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CADF52-0569-0ED6-2601-A7F087812B69}"/>
              </a:ext>
            </a:extLst>
          </p:cNvPr>
          <p:cNvSpPr txBox="1"/>
          <p:nvPr/>
        </p:nvSpPr>
        <p:spPr>
          <a:xfrm>
            <a:off x="5170512" y="1530470"/>
            <a:ext cx="382385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➡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Higher parental education levels (e.g., Master's or Bachelor's) are associated with </a:t>
            </a:r>
            <a:r>
              <a:rPr lang="en-US" b="1" dirty="0">
                <a:solidFill>
                  <a:schemeClr val="accent6">
                    <a:lumMod val="95000"/>
                    <a:lumOff val="5000"/>
                  </a:schemeClr>
                </a:solidFill>
              </a:rPr>
              <a:t>higher mean math scores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compared to lower levels (e.g., High School or Some High School).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➡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Confidence intervals for Master's and Bachelor's degrees </a:t>
            </a:r>
            <a:r>
              <a:rPr lang="en-US" b="1" dirty="0">
                <a:solidFill>
                  <a:schemeClr val="accent6">
                    <a:lumMod val="95000"/>
                    <a:lumOff val="5000"/>
                  </a:schemeClr>
                </a:solidFill>
              </a:rPr>
              <a:t>overlap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, suggesting </a:t>
            </a:r>
            <a:r>
              <a:rPr lang="en-US" b="1" dirty="0">
                <a:solidFill>
                  <a:schemeClr val="accent6">
                    <a:lumMod val="95000"/>
                    <a:lumOff val="5000"/>
                  </a:schemeClr>
                </a:solidFill>
              </a:rPr>
              <a:t>less certainty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about a significant difference between them.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➡ </a:t>
            </a:r>
            <a:r>
              <a:rPr lang="en-US" b="1" dirty="0">
                <a:solidFill>
                  <a:schemeClr val="accent5"/>
                </a:solidFill>
              </a:rPr>
              <a:t>High School and Some High School groups have </a:t>
            </a:r>
            <a:r>
              <a:rPr lang="en-US" b="1" dirty="0">
                <a:solidFill>
                  <a:schemeClr val="accent6">
                    <a:lumMod val="95000"/>
                    <a:lumOff val="5000"/>
                  </a:schemeClr>
                </a:solidFill>
              </a:rPr>
              <a:t>distinct</a:t>
            </a:r>
            <a:r>
              <a:rPr lang="en-US" b="1" dirty="0">
                <a:solidFill>
                  <a:schemeClr val="accent5"/>
                </a:solidFill>
              </a:rPr>
              <a:t>, </a:t>
            </a:r>
            <a:r>
              <a:rPr lang="en-US" b="1" dirty="0">
                <a:solidFill>
                  <a:schemeClr val="accent6">
                    <a:lumMod val="95000"/>
                    <a:lumOff val="5000"/>
                  </a:schemeClr>
                </a:solidFill>
              </a:rPr>
              <a:t>lower scores </a:t>
            </a:r>
            <a:r>
              <a:rPr lang="en-US" b="1" dirty="0">
                <a:solidFill>
                  <a:schemeClr val="accent5"/>
                </a:solidFill>
              </a:rPr>
              <a:t>compared to other education levels as their confidence intervals </a:t>
            </a:r>
            <a:r>
              <a:rPr lang="en-US" b="1" dirty="0">
                <a:solidFill>
                  <a:schemeClr val="accent6">
                    <a:lumMod val="95000"/>
                    <a:lumOff val="5000"/>
                  </a:schemeClr>
                </a:solidFill>
              </a:rPr>
              <a:t>do not overlap </a:t>
            </a:r>
            <a:r>
              <a:rPr lang="en-US" b="1" dirty="0">
                <a:solidFill>
                  <a:schemeClr val="accent5"/>
                </a:solidFill>
              </a:rPr>
              <a:t>significantly with higher education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3856AD-7FD9-675C-ABB2-6B8DDB6CB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Confidence Interval Analysis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E57B4-87E4-5206-CA06-4B5CFE438904}"/>
              </a:ext>
            </a:extLst>
          </p:cNvPr>
          <p:cNvSpPr txBox="1"/>
          <p:nvPr/>
        </p:nvSpPr>
        <p:spPr>
          <a:xfrm>
            <a:off x="5386648" y="1227032"/>
            <a:ext cx="3458096" cy="47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dirty="0">
                <a:solidFill>
                  <a:srgbClr val="0070C0"/>
                </a:solidFill>
                <a:latin typeface="Young Serif"/>
                <a:ea typeface="Young Serif"/>
                <a:cs typeface="Young Serif"/>
                <a:sym typeface="Young Serif"/>
              </a:rPr>
              <a:t>Using </a:t>
            </a:r>
            <a:r>
              <a:rPr lang="en-US" sz="1100" b="1" dirty="0">
                <a:solidFill>
                  <a:schemeClr val="accent6"/>
                </a:solidFill>
                <a:latin typeface="Young Serif"/>
                <a:ea typeface="Young Serif"/>
                <a:cs typeface="Young Serif"/>
                <a:sym typeface="Young Serif"/>
              </a:rPr>
              <a:t>bootstrapping</a:t>
            </a:r>
            <a:r>
              <a:rPr lang="en-US" sz="1100" dirty="0">
                <a:solidFill>
                  <a:srgbClr val="0070C0"/>
                </a:solidFill>
                <a:latin typeface="Young Serif"/>
                <a:ea typeface="Young Serif"/>
                <a:cs typeface="Young Serif"/>
                <a:sym typeface="Young Serif"/>
              </a:rPr>
              <a:t>, we computed robust confidence intervals for math scores.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D3CEC6-B767-761F-3DFF-8822A3622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694" y="1779970"/>
            <a:ext cx="2914218" cy="317441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1CF072-7737-E577-CD65-F9FBAFA7DF9D}"/>
              </a:ext>
            </a:extLst>
          </p:cNvPr>
          <p:cNvSpPr txBox="1"/>
          <p:nvPr/>
        </p:nvSpPr>
        <p:spPr>
          <a:xfrm>
            <a:off x="249385" y="1233217"/>
            <a:ext cx="5220390" cy="368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5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confidence intervals for key metrics like-</a:t>
            </a:r>
          </a:p>
          <a:p>
            <a:pPr algn="just"/>
            <a:r>
              <a:rPr lang="en-US" sz="15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“The mean math score for students with college educated parents is between 80 and 85 with 95% confidence.” </a:t>
            </a:r>
          </a:p>
          <a:p>
            <a:endParaRPr lang="en-US" b="1" dirty="0"/>
          </a:p>
          <a:p>
            <a:r>
              <a:rPr lang="en" b="1" dirty="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Answer</a:t>
            </a:r>
            <a:r>
              <a:rPr lang="en" sz="1400" b="1" dirty="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:</a:t>
            </a:r>
            <a:r>
              <a:rPr lang="en-US" dirty="0"/>
              <a:t>  </a:t>
            </a:r>
            <a:r>
              <a:rPr lang="en-US" sz="1400" b="1" i="0" dirty="0">
                <a:solidFill>
                  <a:schemeClr val="tx1"/>
                </a:solidFill>
                <a:effectLst/>
                <a:latin typeface="Segoe UI Historic" panose="020B0502040204020203" pitchFamily="34" charset="0"/>
              </a:rPr>
              <a:t>The 95% confidence intervals for</a:t>
            </a:r>
            <a:endParaRPr lang="en-US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Associate's Degree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(65.89, 69.87)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Bachelor's Degree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(66.69, 72.09)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School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(60.10, 64.17)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Master's Degree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(65.88, 73.61)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College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(65.27, 68.99)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High School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(61.17, 65.83)</a:t>
            </a:r>
            <a:endParaRPr lang="en-US" dirty="0"/>
          </a:p>
          <a:p>
            <a:pPr algn="just"/>
            <a:endParaRPr lang="en-US" b="1" dirty="0"/>
          </a:p>
          <a:p>
            <a:pPr algn="just"/>
            <a:r>
              <a:rPr lang="en" sz="1400" b="1" dirty="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Conclusion: </a:t>
            </a:r>
            <a:r>
              <a:rPr lang="en-US" b="1" dirty="0"/>
              <a:t>From the data, we are 95% confident that the mean math score for students with college educated parents doesn’t fall between 80 and 85.</a:t>
            </a:r>
          </a:p>
        </p:txBody>
      </p:sp>
    </p:spTree>
    <p:extLst>
      <p:ext uri="{BB962C8B-B14F-4D97-AF65-F5344CB8AC3E}">
        <p14:creationId xmlns:p14="http://schemas.microsoft.com/office/powerpoint/2010/main" val="102036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Analysis</a:t>
            </a:r>
            <a:endParaRPr/>
          </a:p>
        </p:txBody>
      </p:sp>
      <p:sp>
        <p:nvSpPr>
          <p:cNvPr id="287" name="Google Shape;287;p40"/>
          <p:cNvSpPr txBox="1">
            <a:spLocks noGrp="1"/>
          </p:cNvSpPr>
          <p:nvPr>
            <p:ph type="body" idx="4294967295"/>
          </p:nvPr>
        </p:nvSpPr>
        <p:spPr>
          <a:xfrm>
            <a:off x="906087" y="1152525"/>
            <a:ext cx="400050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accent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25" b="1" dirty="0">
                <a:solidFill>
                  <a:schemeClr val="accent6"/>
                </a:solidFill>
              </a:rPr>
              <a:t>Features:</a:t>
            </a:r>
            <a:r>
              <a:rPr lang="en" sz="1525" dirty="0">
                <a:solidFill>
                  <a:schemeClr val="accent6"/>
                </a:solidFill>
              </a:rPr>
              <a:t> Parental education, reading score, writing score.</a:t>
            </a:r>
            <a:endParaRPr sz="1525" dirty="0">
              <a:solidFill>
                <a:schemeClr val="accent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25" dirty="0">
              <a:solidFill>
                <a:schemeClr val="accent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25" b="1" dirty="0">
                <a:solidFill>
                  <a:schemeClr val="accent6"/>
                </a:solidFill>
              </a:rPr>
              <a:t>Response Variable:</a:t>
            </a:r>
            <a:r>
              <a:rPr lang="en" sz="1525" dirty="0">
                <a:solidFill>
                  <a:schemeClr val="accent6"/>
                </a:solidFill>
              </a:rPr>
              <a:t> Math score.</a:t>
            </a:r>
            <a:endParaRPr sz="1525" dirty="0">
              <a:solidFill>
                <a:schemeClr val="accent6"/>
              </a:solidFill>
            </a:endParaRPr>
          </a:p>
          <a:p>
            <a:pPr marL="9144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accent6"/>
              </a:solidFill>
            </a:endParaRPr>
          </a:p>
          <a:p>
            <a:pPr marL="9144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accent6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accent6"/>
                </a:solidFill>
              </a:rPr>
              <a:t>           </a:t>
            </a:r>
            <a:r>
              <a:rPr lang="en" sz="1433" b="1" dirty="0">
                <a:solidFill>
                  <a:schemeClr val="accent6"/>
                </a:solidFill>
              </a:rPr>
              <a:t> </a:t>
            </a:r>
            <a:r>
              <a:rPr lang="en" sz="1450" b="1" dirty="0">
                <a:solidFill>
                  <a:schemeClr val="accent6"/>
                </a:solidFill>
              </a:rPr>
              <a:t>Coefficients</a:t>
            </a:r>
            <a:endParaRPr sz="1450" b="1" dirty="0">
              <a:solidFill>
                <a:schemeClr val="accent6"/>
              </a:solidFill>
            </a:endParaRPr>
          </a:p>
          <a:p>
            <a:pPr marL="457200" lvl="0" indent="-306863" algn="l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Young Serif"/>
              <a:buChar char="●"/>
            </a:pPr>
            <a:r>
              <a:rPr lang="en" sz="1450" dirty="0">
                <a:solidFill>
                  <a:schemeClr val="accent6"/>
                </a:solidFill>
              </a:rPr>
              <a:t>Parental education (some college): 0.086</a:t>
            </a:r>
            <a:endParaRPr sz="1450" dirty="0">
              <a:solidFill>
                <a:schemeClr val="accent6"/>
              </a:solidFill>
            </a:endParaRPr>
          </a:p>
          <a:p>
            <a:pPr marL="457200" lvl="0" indent="-306863" algn="l" rtl="0">
              <a:spcBef>
                <a:spcPts val="0"/>
              </a:spcBef>
              <a:spcAft>
                <a:spcPts val="0"/>
              </a:spcAft>
              <a:buSzPct val="100000"/>
              <a:buFont typeface="Young Serif"/>
              <a:buChar char="●"/>
            </a:pPr>
            <a:r>
              <a:rPr lang="en" sz="1450" dirty="0">
                <a:solidFill>
                  <a:schemeClr val="accent6"/>
                </a:solidFill>
              </a:rPr>
              <a:t>Reading score: 0.559</a:t>
            </a:r>
            <a:endParaRPr sz="1450" dirty="0">
              <a:solidFill>
                <a:schemeClr val="accent6"/>
              </a:solidFill>
            </a:endParaRPr>
          </a:p>
          <a:p>
            <a:pPr marL="457200" lvl="0" indent="-306863" algn="l" rtl="0">
              <a:spcBef>
                <a:spcPts val="0"/>
              </a:spcBef>
              <a:spcAft>
                <a:spcPts val="0"/>
              </a:spcAft>
              <a:buSzPct val="100000"/>
              <a:buFont typeface="Young Serif"/>
              <a:buChar char="●"/>
            </a:pPr>
            <a:r>
              <a:rPr lang="en" sz="1450" dirty="0">
                <a:solidFill>
                  <a:schemeClr val="accent6"/>
                </a:solidFill>
              </a:rPr>
              <a:t>Writing score: 0.267</a:t>
            </a:r>
            <a:endParaRPr sz="1450" dirty="0">
              <a:solidFill>
                <a:schemeClr val="accent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accent6"/>
              </a:solidFill>
            </a:endParaRPr>
          </a:p>
        </p:txBody>
      </p:sp>
      <p:sp>
        <p:nvSpPr>
          <p:cNvPr id="289" name="Google Shape;289;p40"/>
          <p:cNvSpPr txBox="1">
            <a:spLocks noGrp="1"/>
          </p:cNvSpPr>
          <p:nvPr>
            <p:ph type="body" idx="4294967295"/>
          </p:nvPr>
        </p:nvSpPr>
        <p:spPr>
          <a:xfrm>
            <a:off x="4943995" y="1152525"/>
            <a:ext cx="400050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300" b="1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300" b="1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 dirty="0">
                <a:latin typeface="Young Serif"/>
                <a:ea typeface="Young Serif"/>
                <a:cs typeface="Young Serif"/>
                <a:sym typeface="Young Serif"/>
              </a:rPr>
              <a:t>Conclusion</a:t>
            </a:r>
            <a:endParaRPr sz="1300" b="1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>
                <a:latin typeface="Young Serif"/>
                <a:ea typeface="Young Serif"/>
                <a:cs typeface="Young Serif"/>
                <a:sym typeface="Young Serif"/>
              </a:rPr>
              <a:t>Reading and writing scores are strong predictors of math performance.</a:t>
            </a:r>
            <a:endParaRPr sz="1300" dirty="0"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 Checks</a:t>
            </a:r>
            <a:endParaRPr/>
          </a:p>
        </p:txBody>
      </p:sp>
      <p:sp>
        <p:nvSpPr>
          <p:cNvPr id="295" name="Google Shape;295;p41"/>
          <p:cNvSpPr txBox="1">
            <a:spLocks noGrp="1"/>
          </p:cNvSpPr>
          <p:nvPr>
            <p:ph type="body" idx="3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75612"/>
              <a:buFont typeface="Arial"/>
              <a:buNone/>
            </a:pPr>
            <a:r>
              <a:rPr lang="en" sz="1454" b="1">
                <a:latin typeface="Young Serif"/>
                <a:ea typeface="Young Serif"/>
                <a:cs typeface="Young Serif"/>
                <a:sym typeface="Young Serif"/>
              </a:rPr>
              <a:t>Levene's Test for Homogeneity of Variances:</a:t>
            </a:r>
            <a:endParaRPr sz="1454" b="1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-293265" algn="l" rtl="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Young Serif"/>
              <a:buChar char="●"/>
            </a:pPr>
            <a:r>
              <a:rPr lang="en" sz="1454">
                <a:latin typeface="Young Serif"/>
                <a:ea typeface="Young Serif"/>
                <a:cs typeface="Young Serif"/>
                <a:sym typeface="Young Serif"/>
              </a:rPr>
              <a:t>Statistic = 2.645</a:t>
            </a:r>
            <a:endParaRPr sz="1454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-29326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Young Serif"/>
              <a:buChar char="●"/>
            </a:pPr>
            <a:r>
              <a:rPr lang="en" sz="1454">
                <a:latin typeface="Young Serif"/>
                <a:ea typeface="Young Serif"/>
                <a:cs typeface="Young Serif"/>
                <a:sym typeface="Young Serif"/>
              </a:rPr>
              <a:t>P-value = 0.104 (No significant difference in variances).</a:t>
            </a:r>
            <a:endParaRPr sz="1454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75612"/>
              <a:buFont typeface="Arial"/>
              <a:buNone/>
            </a:pPr>
            <a:r>
              <a:rPr lang="en" sz="1454" b="1">
                <a:latin typeface="Young Serif"/>
                <a:ea typeface="Young Serif"/>
                <a:cs typeface="Young Serif"/>
                <a:sym typeface="Young Serif"/>
              </a:rPr>
              <a:t>Residuals Normality Check:</a:t>
            </a:r>
            <a:endParaRPr sz="1454" b="1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-293265" algn="l" rtl="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Young Serif"/>
              <a:buChar char="●"/>
            </a:pPr>
            <a:r>
              <a:rPr lang="en" sz="1454">
                <a:latin typeface="Young Serif"/>
                <a:ea typeface="Young Serif"/>
                <a:cs typeface="Young Serif"/>
                <a:sym typeface="Young Serif"/>
              </a:rPr>
              <a:t>Residuals appear approximately normal.</a:t>
            </a:r>
            <a:endParaRPr sz="1454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75612"/>
              <a:buFont typeface="Arial"/>
              <a:buNone/>
            </a:pPr>
            <a:r>
              <a:rPr lang="en" sz="1454" b="1">
                <a:latin typeface="Young Serif"/>
                <a:ea typeface="Young Serif"/>
                <a:cs typeface="Young Serif"/>
                <a:sym typeface="Young Serif"/>
              </a:rPr>
              <a:t>Linearity Check:</a:t>
            </a:r>
            <a:endParaRPr sz="1454" b="1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-293265" algn="l" rtl="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Young Serif"/>
              <a:buChar char="●"/>
            </a:pPr>
            <a:r>
              <a:rPr lang="en" sz="1454">
                <a:latin typeface="Young Serif"/>
                <a:ea typeface="Young Serif"/>
                <a:cs typeface="Young Serif"/>
                <a:sym typeface="Young Serif"/>
              </a:rPr>
              <a:t>Linear relationship between predictors and residuals.</a:t>
            </a:r>
            <a:endParaRPr sz="1454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96" name="Google Shape;2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375" y="1790363"/>
            <a:ext cx="3827974" cy="309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00"/>
              <a:t>Bootstrapping Confidence Intervals</a:t>
            </a:r>
            <a:endParaRPr sz="2800"/>
          </a:p>
        </p:txBody>
      </p:sp>
      <p:pic>
        <p:nvPicPr>
          <p:cNvPr id="302" name="Google Shape;302;p4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628" r="4619"/>
          <a:stretch/>
        </p:blipFill>
        <p:spPr>
          <a:xfrm>
            <a:off x="4685900" y="1762300"/>
            <a:ext cx="4229400" cy="3152400"/>
          </a:xfrm>
          <a:prstGeom prst="rect">
            <a:avLst/>
          </a:prstGeom>
        </p:spPr>
      </p:pic>
      <p:sp>
        <p:nvSpPr>
          <p:cNvPr id="303" name="Google Shape;303;p42"/>
          <p:cNvSpPr txBox="1">
            <a:spLocks noGrp="1"/>
          </p:cNvSpPr>
          <p:nvPr>
            <p:ph type="body" idx="3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600" b="1">
                <a:latin typeface="Young Serif"/>
                <a:ea typeface="Young Serif"/>
                <a:cs typeface="Young Serif"/>
                <a:sym typeface="Young Serif"/>
              </a:rPr>
              <a:t>95% Bootstrap Confidence Interval for Mean Math Score</a:t>
            </a:r>
            <a:endParaRPr sz="1600" b="1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Young Serif"/>
                <a:ea typeface="Young Serif"/>
                <a:cs typeface="Young Serif"/>
                <a:sym typeface="Young Serif"/>
              </a:rPr>
              <a:t>     (-0.06, 0.06)</a:t>
            </a:r>
            <a:endParaRPr sz="160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Young Serif"/>
                <a:ea typeface="Young Serif"/>
                <a:cs typeface="Young Serif"/>
                <a:sym typeface="Young Serif"/>
              </a:rPr>
              <a:t>Suggests a very small effect for parental education on math scores.</a:t>
            </a:r>
            <a:endParaRPr sz="160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Insights &amp; Recommendations</a:t>
            </a:r>
            <a:endParaRPr sz="3300"/>
          </a:p>
        </p:txBody>
      </p:sp>
      <p:sp>
        <p:nvSpPr>
          <p:cNvPr id="309" name="Google Shape;309;p43"/>
          <p:cNvSpPr txBox="1">
            <a:spLocks noGrp="1"/>
          </p:cNvSpPr>
          <p:nvPr>
            <p:ph type="body" idx="1"/>
          </p:nvPr>
        </p:nvSpPr>
        <p:spPr>
          <a:xfrm>
            <a:off x="491400" y="2369126"/>
            <a:ext cx="3646800" cy="24348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5"/>
              <a:buFont typeface="Arial"/>
              <a:buNone/>
            </a:pPr>
            <a:r>
              <a:rPr lang="en" sz="7000" dirty="0">
                <a:latin typeface="Young Serif"/>
                <a:ea typeface="Young Serif"/>
                <a:cs typeface="Young Serif"/>
                <a:sym typeface="Young Serif"/>
              </a:rPr>
              <a:t>Parental Education</a:t>
            </a:r>
            <a:endParaRPr sz="700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400" b="0" dirty="0">
                <a:latin typeface="Young Serif"/>
                <a:ea typeface="Young Serif"/>
                <a:cs typeface="Young Serif"/>
                <a:sym typeface="Young Serif"/>
              </a:rPr>
              <a:t>No significant impact on math scores based on t-test </a:t>
            </a:r>
            <a:endParaRPr sz="5400" b="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400" b="0" dirty="0">
                <a:latin typeface="Young Serif"/>
                <a:ea typeface="Young Serif"/>
                <a:cs typeface="Young Serif"/>
                <a:sym typeface="Young Serif"/>
              </a:rPr>
              <a:t>(p-value = 0.242)</a:t>
            </a:r>
            <a:endParaRPr sz="5400" b="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400" b="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800" dirty="0">
                <a:latin typeface="Young Serif"/>
                <a:ea typeface="Young Serif"/>
                <a:cs typeface="Young Serif"/>
                <a:sym typeface="Young Serif"/>
              </a:rPr>
              <a:t>Predictors of Math Scores</a:t>
            </a:r>
            <a:endParaRPr sz="580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b="0" dirty="0">
                <a:latin typeface="Young Serif"/>
                <a:ea typeface="Young Serif"/>
                <a:cs typeface="Young Serif"/>
                <a:sym typeface="Young Serif"/>
              </a:rPr>
              <a:t>Reading and writing scores are stronger predictors of math performance.</a:t>
            </a:r>
            <a:endParaRPr sz="5400" b="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4600" b="0" dirty="0"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310" name="Google Shape;310;p43"/>
          <p:cNvSpPr txBox="1">
            <a:spLocks noGrp="1"/>
          </p:cNvSpPr>
          <p:nvPr>
            <p:ph type="body" idx="2"/>
          </p:nvPr>
        </p:nvSpPr>
        <p:spPr>
          <a:xfrm>
            <a:off x="4809975" y="1824950"/>
            <a:ext cx="3754500" cy="30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5"/>
              <a:buFont typeface="Arial"/>
              <a:buNone/>
            </a:pPr>
            <a:r>
              <a:rPr lang="en" sz="1430">
                <a:latin typeface="Young Serif"/>
                <a:ea typeface="Young Serif"/>
                <a:cs typeface="Young Serif"/>
                <a:sym typeface="Young Serif"/>
              </a:rPr>
              <a:t>Actionable Insight</a:t>
            </a:r>
            <a:endParaRPr sz="1430">
              <a:latin typeface="Young Serif"/>
              <a:ea typeface="Young Serif"/>
              <a:cs typeface="Young Serif"/>
              <a:sym typeface="Young Serif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6"/>
              </a:buClr>
              <a:buSzPts val="605"/>
              <a:buFont typeface="Arial"/>
              <a:buNone/>
            </a:pPr>
            <a:r>
              <a:rPr lang="en" sz="1330" b="0">
                <a:latin typeface="Young Serif"/>
                <a:ea typeface="Young Serif"/>
                <a:cs typeface="Young Serif"/>
                <a:sym typeface="Young Serif"/>
              </a:rPr>
              <a:t>Focus on enhancing reading and writing skills to improve math scores.</a:t>
            </a:r>
            <a:endParaRPr sz="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289F-6945-3D30-B223-C52724F3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09A77-A15E-22C1-9624-585FBF36E36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712420" y="1809230"/>
            <a:ext cx="6708372" cy="3416300"/>
          </a:xfrm>
        </p:spPr>
        <p:txBody>
          <a:bodyPr/>
          <a:lstStyle/>
          <a:p>
            <a:r>
              <a:rPr lang="en-GB" sz="2800" b="1" dirty="0">
                <a:solidFill>
                  <a:srgbClr val="000000"/>
                </a:solidFill>
              </a:rPr>
              <a:t>Focus on Parental Education</a:t>
            </a:r>
          </a:p>
          <a:p>
            <a:r>
              <a:rPr lang="en-GB" sz="2800" b="1" dirty="0">
                <a:solidFill>
                  <a:srgbClr val="000000"/>
                </a:solidFill>
              </a:rPr>
              <a:t>Limited Variables</a:t>
            </a:r>
          </a:p>
          <a:p>
            <a:r>
              <a:rPr lang="en-GB" sz="2800" b="1" dirty="0">
                <a:solidFill>
                  <a:srgbClr val="000000"/>
                </a:solidFill>
              </a:rPr>
              <a:t>Small Effect Size</a:t>
            </a:r>
          </a:p>
          <a:p>
            <a:pPr marL="158750" indent="0">
              <a:buNone/>
            </a:pPr>
            <a:endParaRPr lang="en-US" b="1" dirty="0"/>
          </a:p>
          <a:p>
            <a:endParaRPr lang="en-US" b="1" dirty="0"/>
          </a:p>
          <a:p>
            <a:pPr marL="15875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55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BFB5-E5D7-5456-A22D-DA11873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Future Scopes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8A61F-65AA-4223-385F-3BF09510473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130531" y="1975484"/>
            <a:ext cx="8521700" cy="3416300"/>
          </a:xfrm>
        </p:spPr>
        <p:txBody>
          <a:bodyPr/>
          <a:lstStyle/>
          <a:p>
            <a:r>
              <a:rPr lang="en-GB" sz="2800" b="1" dirty="0">
                <a:solidFill>
                  <a:srgbClr val="000000"/>
                </a:solidFill>
              </a:rPr>
              <a:t>Incorporating Socioeconomic Data</a:t>
            </a:r>
          </a:p>
          <a:p>
            <a:r>
              <a:rPr lang="en-GB" sz="2800" b="1" dirty="0">
                <a:solidFill>
                  <a:srgbClr val="000000"/>
                </a:solidFill>
              </a:rPr>
              <a:t>Broader Dataset</a:t>
            </a:r>
          </a:p>
          <a:p>
            <a:r>
              <a:rPr lang="en-GB" sz="2800" b="1" dirty="0">
                <a:solidFill>
                  <a:srgbClr val="000000"/>
                </a:solidFill>
              </a:rPr>
              <a:t>Inclusion of Qualitative Data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903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16" name="Google Shape;316;p44"/>
          <p:cNvSpPr txBox="1"/>
          <p:nvPr/>
        </p:nvSpPr>
        <p:spPr>
          <a:xfrm>
            <a:off x="520250" y="1424750"/>
            <a:ext cx="7736100" cy="3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Parental education level does not significantly affect math scores in this dataset.</a:t>
            </a:r>
            <a:endParaRPr sz="205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endParaRPr sz="205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Reading and writing scores show strong predictive power for math performance.</a:t>
            </a:r>
            <a:endParaRPr sz="205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endParaRPr sz="205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205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Future analyses could include additional features like study time, extracurricular activities, etc.</a:t>
            </a:r>
            <a:endParaRPr sz="205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5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0FDB34-C8BC-347C-FD94-0CF884D3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8546594" cy="4090800"/>
          </a:xfrm>
        </p:spPr>
        <p:txBody>
          <a:bodyPr>
            <a:normAutofit/>
          </a:bodyPr>
          <a:lstStyle/>
          <a:p>
            <a:pPr algn="ctr"/>
            <a:r>
              <a:rPr lang="en-SG" sz="54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107782"/>
      </p:ext>
    </p:extLst>
  </p:cSld>
  <p:clrMapOvr>
    <a:masterClrMapping/>
  </p:clrMapOvr>
</p:sld>
</file>

<file path=ppt/theme/theme1.xml><?xml version="1.0" encoding="utf-8"?>
<a:theme xmlns:a="http://schemas.openxmlformats.org/drawingml/2006/main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814</Words>
  <Application>Microsoft Office PowerPoint</Application>
  <PresentationFormat>On-screen Show (16:9)</PresentationFormat>
  <Paragraphs>136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Rubik</vt:lpstr>
      <vt:lpstr>Young Serif</vt:lpstr>
      <vt:lpstr>Rubik SemiBold</vt:lpstr>
      <vt:lpstr>Times New Roman</vt:lpstr>
      <vt:lpstr>Segoe UI Historic</vt:lpstr>
      <vt:lpstr>Arial</vt:lpstr>
      <vt:lpstr>Poppins</vt:lpstr>
      <vt:lpstr>Syllabus / Course Overview #1</vt:lpstr>
      <vt:lpstr>Impact of Socioeconomic Factors on Student Academic Performance</vt:lpstr>
      <vt:lpstr>Submitted To  Md. Al Imran Senior Lecturer, Department of Computer Science &amp; Engineering, East West University</vt:lpstr>
      <vt:lpstr>Overview</vt:lpstr>
      <vt:lpstr>Objective</vt:lpstr>
      <vt:lpstr>Data Preprocessing</vt:lpstr>
      <vt:lpstr>PowerPoint Presentation</vt:lpstr>
      <vt:lpstr>PowerPoint Presentation</vt:lpstr>
      <vt:lpstr>Statistical Hypothesis Testing</vt:lpstr>
      <vt:lpstr>Confidence Interval Analysis</vt:lpstr>
      <vt:lpstr>Confidence Interval Analysis</vt:lpstr>
      <vt:lpstr>Regression Analysis</vt:lpstr>
      <vt:lpstr>Robustness Checks</vt:lpstr>
      <vt:lpstr>Bootstrapping Confidence Intervals</vt:lpstr>
      <vt:lpstr>Insights &amp; Recommendations</vt:lpstr>
      <vt:lpstr>Limitations</vt:lpstr>
      <vt:lpstr>Future Scopes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Lenovo</cp:lastModifiedBy>
  <cp:revision>5</cp:revision>
  <dcterms:modified xsi:type="dcterms:W3CDTF">2025-01-24T01:21:50Z</dcterms:modified>
</cp:coreProperties>
</file>